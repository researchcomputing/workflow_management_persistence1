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  <p:sldMasterId id="2147483663" r:id="rId5"/>
  </p:sldMasterIdLst>
  <p:notesMasterIdLst>
    <p:notesMasterId r:id="rId22"/>
  </p:notesMasterIdLst>
  <p:sldIdLst>
    <p:sldId id="256" r:id="rId6"/>
    <p:sldId id="408" r:id="rId7"/>
    <p:sldId id="436" r:id="rId8"/>
    <p:sldId id="438" r:id="rId9"/>
    <p:sldId id="437" r:id="rId10"/>
    <p:sldId id="439" r:id="rId11"/>
    <p:sldId id="440" r:id="rId12"/>
    <p:sldId id="441" r:id="rId13"/>
    <p:sldId id="442" r:id="rId14"/>
    <p:sldId id="450" r:id="rId15"/>
    <p:sldId id="445" r:id="rId16"/>
    <p:sldId id="447" r:id="rId17"/>
    <p:sldId id="448" r:id="rId18"/>
    <p:sldId id="449" r:id="rId19"/>
    <p:sldId id="446" r:id="rId20"/>
    <p:sldId id="26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8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16" autoAdjust="0"/>
    <p:restoredTop sz="86377" autoAdjust="0"/>
  </p:normalViewPr>
  <p:slideViewPr>
    <p:cSldViewPr snapToGrid="0">
      <p:cViewPr varScale="1">
        <p:scale>
          <a:sx n="104" d="100"/>
          <a:sy n="104" d="100"/>
        </p:scale>
        <p:origin x="312" y="200"/>
      </p:cViewPr>
      <p:guideLst/>
    </p:cSldViewPr>
  </p:slideViewPr>
  <p:outlineViewPr>
    <p:cViewPr>
      <p:scale>
        <a:sx n="33" d="100"/>
        <a:sy n="33" d="100"/>
      </p:scale>
      <p:origin x="0" y="-21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DA08D6-E137-3341-A5EE-84219A24203E}" type="datetimeFigureOut">
              <a:rPr lang="en-US" smtClean="0"/>
              <a:t>9/17/26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26901F-C6C3-9E47-9843-744856EDDD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40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863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7C543-3BA0-2116-0F1E-94C1E1D5C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69DC9-EC8E-645E-1C58-D558682DD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10D467-5B4B-CC56-066A-CF933CEF5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4C8EA-7EAB-CAAB-E3ED-1438B16205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005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from https://</a:t>
            </a:r>
            <a:r>
              <a:rPr lang="en-US" dirty="0" err="1"/>
              <a:t>www.nextflow.io</a:t>
            </a:r>
            <a:r>
              <a:rPr lang="en-US" dirty="0"/>
              <a:t>/example1.html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384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from https://</a:t>
            </a:r>
            <a:r>
              <a:rPr lang="en-US" dirty="0" err="1"/>
              <a:t>www.nextflow.io</a:t>
            </a:r>
            <a:r>
              <a:rPr lang="en-US" dirty="0"/>
              <a:t>/example1.html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12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2316551ed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  <p:sp>
        <p:nvSpPr>
          <p:cNvPr id="129" name="Google Shape;129;g12316551eda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g12316551eda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22933-1853-3695-5698-EA2C873D5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339900-6690-4850-B14D-CFF0A6DDB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3EF43-FA77-3703-DB72-C6218B0476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9/17/2026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2B1B4-AC37-41B2-EB63-E0D769F47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838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E1D7D-D016-C86F-111E-51245E7BA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0B542-AE2F-4E58-DD66-7DA9CB444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321B0-98E4-9776-8ABB-72C7B07ABE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370515"/>
            <a:ext cx="274320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9/17/2026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58BD9-1414-8B11-5258-F11F3BBA1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64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C4D6A-8FFE-9010-6B80-0D3AF7386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5C118D-ED74-9896-00B7-30E4B4A25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323C3-E703-C5F2-391E-8CAC9B48D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9/17/2026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D22A4-3FA3-0497-439D-8B89F5189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749B8-4480-A15F-DBDA-F96FBF7E4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094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EC907-23BF-774E-B09C-A6EDA349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E7B3C-0071-EA5F-E094-0A5F8BA3E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E5657-1F64-B5C8-4E74-1198B0720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9/17/2026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EB8B4-21E7-E875-972F-EEC0FFBCC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FBC84-32CB-DB27-3B87-426A4455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946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F731D-55DE-9F2E-D8F1-9F7901B44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54E67-3FF6-9CA9-19B0-BAE377597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D3602-A4B9-EEDC-D418-DBA902A0E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9/17/2026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191DD-F832-3E44-06D4-705F978C4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153C8-631D-52DA-1D1F-9AB3BAA54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538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EC00-030F-EEF0-BBD3-B4BCD0C1A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A5933-6FAA-BE25-BE4F-77CDE9DD78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8AEAA-01EF-E67B-AB25-033F1D6B0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167D8-463A-88CB-1C03-DA41BAB23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9/17/2026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BB2B6-6FDF-F153-8EDF-ECDD1CF2B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2DB40-37E2-212A-E54E-A16DA2A2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623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55F1C-FE2C-552B-60FB-C0750038D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5BCAD-478D-69A3-442E-A1D5E8DE9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CA36F-BDC3-0F57-4154-BE339EFB9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6FCE88-BF92-7F4A-897F-C8FEC659B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8BB82C-E030-FA61-FAFD-B54C56B38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7F690D-3586-F612-11C6-A80D659FA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9/17/2026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4C747-A73E-1780-F029-9DFBB169B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BDA9CA-83C2-D1C7-21B7-6FA25166E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229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89B16-62D2-B1D7-9274-7136D7DFF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13A322-70BB-30CF-1857-7E86A1E1E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9/17/2026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304FC9-3B87-F0F0-F1D4-5C3F9D34F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44135-0C6B-FEBA-C238-C6ED680EE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042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030674-323E-719E-847D-E7CDD6D60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9/17/2026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60ED06-D6B5-E3F1-EF87-A5B3BEBDE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C7977-127F-31BF-1FC4-A505D26DC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030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E1E3D-EE41-75C8-85E3-349FA0E18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84D1E-4AF6-523B-A4FB-B3857979C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FEC994-0D6B-5E95-3482-24BF74644C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A4F59-9862-468D-39BA-080C2B0D5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9/17/2026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EA81C-EB0D-CF08-0D08-956CF31EE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D4CFE-8A7F-E5E5-5AF3-E5610CB81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40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7136C-981C-CD6C-A369-EA5C54386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3E452D-0DAF-E58C-9A30-884242E5B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D6107-8453-6A21-1294-DB66861F3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B3316-8EF6-2DFC-3D73-23C3962C2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9/17/2026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4EC9F-F128-4E3F-38B3-F4417D9F4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B00AC-7DBB-B0EA-9087-8E8CB862A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934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7EC39-9017-7468-4A1A-E59C9D4FA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2A7E3-4DFA-5E8D-31D5-F646374D7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967EA-72DB-C621-1047-09798F2A5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9/17/2026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865BC-EBAD-236E-2DE5-802AE6247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34C25-FFAB-79D6-0334-889F498A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216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29D95D-E0CE-9755-4BE1-CE70EC7DBD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23F19F-544D-6750-87E0-C64F5697D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351DF-5349-1051-047D-2B482FDE8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9/17/2026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97F57-B65C-3C46-0AEB-9126BF168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08C82-2941-B02E-65F1-3910F567B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303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FF543F-785B-81AD-859C-25E1E14F9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11285-AC5A-F005-FEA3-CACE5986B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AEED0-1DC9-A7B8-1AA0-116CA0EB6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A560F-461C-6043-9BC4-489BA92F7161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16A367C9-3AA6-1192-2565-6CDE4E3F4F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246811"/>
            <a:ext cx="4724400" cy="584200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CA2128F-B59B-98EB-B50C-F663F9DCCD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r>
              <a:rPr lang="en-US" dirty="0"/>
              <a:t>9/17/2026</a:t>
            </a:r>
          </a:p>
        </p:txBody>
      </p:sp>
    </p:spTree>
    <p:extLst>
      <p:ext uri="{BB962C8B-B14F-4D97-AF65-F5344CB8AC3E}">
        <p14:creationId xmlns:p14="http://schemas.microsoft.com/office/powerpoint/2010/main" val="2504841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44CD1A-3BC0-35A7-1271-C9A2721E5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37290-ABC5-D2DE-246C-6112AA0CE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399A2-2D16-B325-562F-69CC7B6FD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9/17/2026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5BD3D-D725-30B5-953E-59F82ABB82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5D0B8-BC2A-A712-AFCB-8584FB641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283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lorado.edu/rc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ResearchComputing/workflow_management_persistence1" TargetMode="External"/><Relationship Id="rId5" Type="http://schemas.openxmlformats.org/officeDocument/2006/relationships/hyperlink" Target="mailto:rc-help@colorado.edu" TargetMode="External"/><Relationship Id="rId4" Type="http://schemas.openxmlformats.org/officeDocument/2006/relationships/hyperlink" Target="https://curc.readthedocs.io/en/latest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176418/flowchart-by-suzana_k-176418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adorlab/KinBot" TargetMode="External"/><Relationship Id="rId7" Type="http://schemas.openxmlformats.org/officeDocument/2006/relationships/hyperlink" Target="https://www.stickpng.com/fr/img/icones-logos-emojis/logos-supermarches/snakemake-dark-logo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s://gitcn.org/topics/pipeline-framework" TargetMode="Externa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rc-help@colorado.edu" TargetMode="External"/><Relationship Id="rId2" Type="http://schemas.openxmlformats.org/officeDocument/2006/relationships/hyperlink" Target="https://colorado.service-now.com/req_portal?id=ucb_sc_rc_for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urc.readthedocs.io/en/latest/running-jobs/persistence1.html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.zoom.us/m/bPlPdNq5M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hotograph promoting University of Colorado Boulder, featuring campus clock tower amid vibrant autumn trees and Rocky Mountain (Flatirons in Boulder) scenery.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372"/>
          <a:stretch/>
        </p:blipFill>
        <p:spPr>
          <a:xfrm>
            <a:off x="0" y="0"/>
            <a:ext cx="12227404" cy="40525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6414" y="4298868"/>
            <a:ext cx="10539171" cy="1636726"/>
          </a:xfrm>
          <a:effectLst/>
        </p:spPr>
        <p:txBody>
          <a:bodyPr>
            <a:noAutofit/>
          </a:bodyPr>
          <a:lstStyle/>
          <a:p>
            <a:r>
              <a:rPr lang="en-US" dirty="0">
                <a:latin typeface="Aptos Display" panose="020B0004020202020204" pitchFamily="34" charset="0"/>
              </a:rPr>
              <a:t>Workflow Management with </a:t>
            </a:r>
            <a:r>
              <a:rPr lang="en-US" i="1" dirty="0">
                <a:latin typeface="Aptos Display" panose="020B0004020202020204" pitchFamily="34" charset="0"/>
              </a:rPr>
              <a:t>persistence1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B6B89F-E9D7-0C53-4296-2658F291FAD4}"/>
              </a:ext>
            </a:extLst>
          </p:cNvPr>
          <p:cNvSpPr txBox="1"/>
          <p:nvPr/>
        </p:nvSpPr>
        <p:spPr>
          <a:xfrm>
            <a:off x="3788227" y="5935594"/>
            <a:ext cx="4286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John Reiland, CU Research Computing</a:t>
            </a:r>
          </a:p>
        </p:txBody>
      </p:sp>
    </p:spTree>
    <p:extLst>
      <p:ext uri="{BB962C8B-B14F-4D97-AF65-F5344CB8AC3E}">
        <p14:creationId xmlns:p14="http://schemas.microsoft.com/office/powerpoint/2010/main" val="953206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3300"/>
            </a:pPr>
            <a:r>
              <a:rPr lang="en-US" dirty="0">
                <a:cs typeface="Arial"/>
              </a:rPr>
              <a:t>Workflow Management with </a:t>
            </a:r>
            <a:r>
              <a:rPr lang="en-US" i="1" dirty="0">
                <a:cs typeface="Arial"/>
              </a:rPr>
              <a:t>persistence1</a:t>
            </a:r>
            <a:r>
              <a:rPr lang="en-US" dirty="0">
                <a:cs typeface="Arial"/>
              </a:rPr>
              <a:t>: Resources</a:t>
            </a:r>
          </a:p>
        </p:txBody>
      </p:sp>
      <p:sp>
        <p:nvSpPr>
          <p:cNvPr id="103" name="Google Shape;103;p15"/>
          <p:cNvSpPr txBox="1">
            <a:spLocks noGrp="1"/>
          </p:cNvSpPr>
          <p:nvPr>
            <p:ph type="body" idx="1"/>
          </p:nvPr>
        </p:nvSpPr>
        <p:spPr>
          <a:xfrm>
            <a:off x="483476" y="1825624"/>
            <a:ext cx="6984124" cy="4337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500" dirty="0">
              <a:latin typeface="Arial"/>
              <a:ea typeface="Arial"/>
              <a:cs typeface="Arial"/>
              <a:sym typeface="Arial"/>
            </a:endParaRPr>
          </a:p>
          <a:p>
            <a:pPr marL="17780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500" dirty="0">
              <a:latin typeface="Arial"/>
              <a:ea typeface="Arial"/>
              <a:cs typeface="Arial"/>
              <a:sym typeface="Arial"/>
            </a:endParaRPr>
          </a:p>
          <a:p>
            <a:pPr marL="17780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500" dirty="0">
              <a:latin typeface="Arial"/>
              <a:ea typeface="Arial"/>
              <a:cs typeface="Arial"/>
              <a:sym typeface="Arial"/>
            </a:endParaRPr>
          </a:p>
          <a:p>
            <a:pPr marL="177800" lvl="0" indent="-196850" algn="l" rtl="0">
              <a:spcBef>
                <a:spcPts val="80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US" sz="2500" dirty="0">
                <a:latin typeface="Arial"/>
                <a:ea typeface="Arial"/>
                <a:cs typeface="Arial"/>
                <a:sym typeface="Arial"/>
              </a:rPr>
              <a:t>Website: </a:t>
            </a:r>
            <a:r>
              <a:rPr lang="en-US" sz="25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http://www.colorado.edu/rc</a:t>
            </a:r>
            <a:endParaRPr lang="en-US" sz="25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lvl="0" indent="-196850" algn="l" rtl="0">
              <a:spcBef>
                <a:spcPts val="80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US" sz="2500" dirty="0">
                <a:latin typeface="Arial"/>
                <a:ea typeface="Arial"/>
                <a:cs typeface="Arial"/>
                <a:sym typeface="Arial"/>
              </a:rPr>
              <a:t>Documentation: </a:t>
            </a:r>
            <a:r>
              <a:rPr lang="en-US" sz="2500" dirty="0">
                <a:latin typeface="Arial"/>
                <a:ea typeface="Arial"/>
                <a:cs typeface="Arial"/>
                <a:sym typeface="Arial"/>
                <a:hlinkClick r:id="rId4"/>
              </a:rPr>
              <a:t>https://curc.readthedocs.io</a:t>
            </a:r>
            <a:r>
              <a:rPr lang="en-US" sz="2500" dirty="0"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177800" lvl="0" indent="-196850" algn="l" rtl="0">
              <a:spcBef>
                <a:spcPts val="80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US" sz="2500" dirty="0">
                <a:latin typeface="Arial"/>
                <a:ea typeface="Arial"/>
                <a:cs typeface="Arial"/>
                <a:sym typeface="Arial"/>
              </a:rPr>
              <a:t>Helpdesk: </a:t>
            </a:r>
            <a:r>
              <a:rPr lang="en-US" sz="25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rc-help@colorado.edu</a:t>
            </a:r>
            <a:endParaRPr lang="en-US" sz="2500" u="sng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CE021-D81D-A362-27C3-90945AB46B7E}"/>
              </a:ext>
            </a:extLst>
          </p:cNvPr>
          <p:cNvSpPr txBox="1"/>
          <p:nvPr/>
        </p:nvSpPr>
        <p:spPr>
          <a:xfrm>
            <a:off x="7227875" y="5132891"/>
            <a:ext cx="45315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ptos Display" panose="020B0004020202020204" pitchFamily="34" charset="0"/>
              </a:rPr>
              <a:t>Slides: </a:t>
            </a:r>
            <a:r>
              <a:rPr lang="en-US" b="1" dirty="0">
                <a:latin typeface="Aptos Display" panose="020B0004020202020204" pitchFamily="34" charset="0"/>
                <a:hlinkClick r:id="rId6"/>
              </a:rPr>
              <a:t>https://github.com/ResearchComputing/workflow_management_persistence1</a:t>
            </a:r>
            <a:endParaRPr lang="en-US" b="1" dirty="0">
              <a:latin typeface="Aptos Display" panose="020B00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6268BA-02B5-728C-94A2-03BC82A8F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9/17/2026</a:t>
            </a:r>
          </a:p>
        </p:txBody>
      </p:sp>
      <p:pic>
        <p:nvPicPr>
          <p:cNvPr id="7" name="Picture 6" descr="A QR code linking to Slides: https://github.com/ResearchComputing/workflow_management_persistence1&#10;">
            <a:extLst>
              <a:ext uri="{FF2B5EF4-FFF2-40B4-BE49-F238E27FC236}">
                <a16:creationId xmlns:a16="http://schemas.microsoft.com/office/drawing/2014/main" id="{1A2F38E7-166F-46C0-8014-031D0B1ECB0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936895" y="1922505"/>
            <a:ext cx="3113506" cy="31135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5A011-CED0-D3EF-CE89-F77AAE921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D8F01-3AC6-23DC-E99F-5070751A3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Meet the User Support Team</a:t>
            </a:r>
          </a:p>
        </p:txBody>
      </p:sp>
      <p:pic>
        <p:nvPicPr>
          <p:cNvPr id="6" name="Picture 5" descr="Photograph collage introducing User Support Team members from Research Computing at University of Colorado Boulder, featuring individual headshots with names labeled below each photo. ">
            <a:extLst>
              <a:ext uri="{FF2B5EF4-FFF2-40B4-BE49-F238E27FC236}">
                <a16:creationId xmlns:a16="http://schemas.microsoft.com/office/drawing/2014/main" id="{8675D0B1-FD30-FF5B-9658-43A255F77B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311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B8D61-F474-F0FD-7124-AE9C5E6B7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A2C13-943B-E3A6-B29E-A5333C12B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workflow?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B9950-3293-983D-4C50-5A83900D6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Any/all steps needed to produce a computational result</a:t>
            </a:r>
          </a:p>
          <a:p>
            <a:pPr lvl="1"/>
            <a:r>
              <a:rPr lang="en-US" dirty="0"/>
              <a:t>Typically involves repetition, such as the same computation being performed on different pieces of data</a:t>
            </a:r>
          </a:p>
          <a:p>
            <a:pPr lvl="1"/>
            <a:r>
              <a:rPr lang="en-US" dirty="0"/>
              <a:t>Computations/analyses are done in a specific order</a:t>
            </a:r>
          </a:p>
          <a:p>
            <a:pPr lvl="1"/>
            <a:r>
              <a:rPr lang="en-US" dirty="0"/>
              <a:t>Can be sequential or parallel</a:t>
            </a:r>
          </a:p>
          <a:p>
            <a:r>
              <a:rPr lang="en-US" dirty="0"/>
              <a:t>Also sometimes called a “pipeline”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EADA2-F2F6-0758-8F9B-E6D1BF9F3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9/17/2026</a:t>
            </a:r>
          </a:p>
        </p:txBody>
      </p:sp>
      <p:pic>
        <p:nvPicPr>
          <p:cNvPr id="6" name="Picture 5" descr="A stock image of a flowchart showing many components connected by unidirectional arrows, representing workflow steps">
            <a:extLst>
              <a:ext uri="{FF2B5EF4-FFF2-40B4-BE49-F238E27FC236}">
                <a16:creationId xmlns:a16="http://schemas.microsoft.com/office/drawing/2014/main" id="{EC5EAAB4-45C3-A25F-5BE0-C5E551794E7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389736" y="2864785"/>
            <a:ext cx="1964064" cy="331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418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6D2D-EF75-CDBD-78A8-485CF3C61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workflow managers?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46DB4-C1B2-9622-0880-52E8953D7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Workflow managers are a type of software designed to set up, coordinate, launch, and monitor jobs and workflows on various types of computing environments, including HPC systems like Alpine and Blanca.</a:t>
            </a:r>
          </a:p>
          <a:p>
            <a:r>
              <a:rPr lang="en-US" dirty="0"/>
              <a:t>While schedulers such as </a:t>
            </a:r>
            <a:r>
              <a:rPr lang="en-US" dirty="0" err="1"/>
              <a:t>Slurm</a:t>
            </a:r>
            <a:r>
              <a:rPr lang="en-US" dirty="0"/>
              <a:t> decide where and when a job runs, a workflow manager decides which jobs run, in which order, and what is needed for the whole workflow to complete successfully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6FC84-FB04-3F12-2D73-A1C8412BA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9/17/2026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001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7226C-6D74-E88C-2D11-565B70753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and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E9CB3-6E2E-2175-3703-DEA7AE282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workflow once, run many times</a:t>
            </a:r>
          </a:p>
          <a:p>
            <a:r>
              <a:rPr lang="en-US" dirty="0"/>
              <a:t>Dependency management</a:t>
            </a:r>
          </a:p>
          <a:p>
            <a:r>
              <a:rPr lang="en-US" dirty="0"/>
              <a:t>Parallelization</a:t>
            </a:r>
          </a:p>
          <a:p>
            <a:r>
              <a:rPr lang="en-US" dirty="0"/>
              <a:t>Restart workflow at any time</a:t>
            </a:r>
          </a:p>
          <a:p>
            <a:r>
              <a:rPr lang="en-US" dirty="0"/>
              <a:t>Reproducibility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1D001-64B8-229D-FAB0-7615B21AB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9/17/2026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475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D87FA-05EE-A69E-3C9A-B09ACA307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</a:t>
            </a:r>
            <a:r>
              <a:rPr lang="en-US" i="1" dirty="0"/>
              <a:t>Not</a:t>
            </a:r>
            <a:r>
              <a:rPr lang="en-US" dirty="0"/>
              <a:t> to Use Workflow Managers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3B5DD-B89C-9DF4-738E-C47236BA7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Infrequent or “one-off” workflows</a:t>
            </a:r>
          </a:p>
          <a:p>
            <a:r>
              <a:rPr lang="en-US" dirty="0"/>
              <a:t>Simple workflows</a:t>
            </a:r>
          </a:p>
          <a:p>
            <a:r>
              <a:rPr lang="en-US" dirty="0"/>
              <a:t>Interactive workflows</a:t>
            </a:r>
          </a:p>
          <a:p>
            <a:r>
              <a:rPr lang="en-US" dirty="0"/>
              <a:t>Highly performance-sensitive tasks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47E35-98D3-3C67-104E-7014619F2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9/17/2026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645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E834-ECCF-F550-81FB-258E2C3BB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Workflow Management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2D2F0-D9E7-BABB-679A-299281E7E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Snakemake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Nextflow</a:t>
            </a:r>
            <a:endParaRPr lang="en-US" dirty="0"/>
          </a:p>
          <a:p>
            <a:pPr lvl="1"/>
            <a:r>
              <a:rPr lang="en-US" dirty="0" err="1"/>
              <a:t>nf</a:t>
            </a:r>
            <a:r>
              <a:rPr lang="en-US" dirty="0"/>
              <a:t>-core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KinBot</a:t>
            </a:r>
            <a:endParaRPr lang="en-US" dirty="0"/>
          </a:p>
          <a:p>
            <a:pPr lvl="1"/>
            <a:r>
              <a:rPr lang="en-US" dirty="0"/>
              <a:t>Not a traditional workflow manager, but functions similarly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D5A65-537E-446D-25C8-6996031C6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9/17/2026</a:t>
            </a:r>
            <a:endParaRPr lang="en-US" dirty="0"/>
          </a:p>
        </p:txBody>
      </p:sp>
      <p:pic>
        <p:nvPicPr>
          <p:cNvPr id="6" name="Picture 5" descr="the kinbot logo">
            <a:extLst>
              <a:ext uri="{FF2B5EF4-FFF2-40B4-BE49-F238E27FC236}">
                <a16:creationId xmlns:a16="http://schemas.microsoft.com/office/drawing/2014/main" id="{03FEC92A-37C0-7350-9F59-8C0CE5D6663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573491" y="4396654"/>
            <a:ext cx="1780309" cy="1780309"/>
          </a:xfrm>
          <a:prstGeom prst="rect">
            <a:avLst/>
          </a:prstGeom>
        </p:spPr>
      </p:pic>
      <p:pic>
        <p:nvPicPr>
          <p:cNvPr id="8" name="Picture 7" descr="The nextflow logo">
            <a:extLst>
              <a:ext uri="{FF2B5EF4-FFF2-40B4-BE49-F238E27FC236}">
                <a16:creationId xmlns:a16="http://schemas.microsoft.com/office/drawing/2014/main" id="{A3795C15-ECA7-FCEA-17F9-FA616F6428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295072" y="2714336"/>
            <a:ext cx="2858655" cy="1429328"/>
          </a:xfrm>
          <a:prstGeom prst="rect">
            <a:avLst/>
          </a:prstGeom>
        </p:spPr>
      </p:pic>
      <p:pic>
        <p:nvPicPr>
          <p:cNvPr id="10" name="Picture 9" descr="The snakemake logo">
            <a:extLst>
              <a:ext uri="{FF2B5EF4-FFF2-40B4-BE49-F238E27FC236}">
                <a16:creationId xmlns:a16="http://schemas.microsoft.com/office/drawing/2014/main" id="{9CBC0D26-74EB-AF6F-AFCF-345B7D75028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3929207" y="1690688"/>
            <a:ext cx="3538393" cy="87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373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57EF-45F5-0BAC-328B-451D11FEB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Example Workflow Management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0580-D2D1-BAAB-F929-47E565F3B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853"/>
            <a:ext cx="10515600" cy="47091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#!/</a:t>
            </a:r>
            <a:r>
              <a:rPr lang="en-US" sz="1600" dirty="0" err="1">
                <a:latin typeface="Aptos Mono" panose="020B0009020202020204" pitchFamily="49" charset="0"/>
              </a:rPr>
              <a:t>usr</a:t>
            </a:r>
            <a:r>
              <a:rPr lang="en-US" sz="1600" dirty="0">
                <a:latin typeface="Aptos Mono" panose="020B0009020202020204" pitchFamily="49" charset="0"/>
              </a:rPr>
              <a:t>/bin/env </a:t>
            </a:r>
            <a:r>
              <a:rPr lang="en-US" sz="1600" dirty="0" err="1">
                <a:latin typeface="Aptos Mono" panose="020B0009020202020204" pitchFamily="49" charset="0"/>
              </a:rPr>
              <a:t>nextflow</a:t>
            </a:r>
            <a:endParaRPr lang="en-US" sz="1600" dirty="0">
              <a:latin typeface="Aptos Mono" panose="020B0009020202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Aptos Mono" panose="020B0009020202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 err="1">
                <a:latin typeface="Aptos Mono" panose="020B0009020202020204" pitchFamily="49" charset="0"/>
              </a:rPr>
              <a:t>params.in</a:t>
            </a:r>
            <a:r>
              <a:rPr lang="en-US" sz="1600" dirty="0">
                <a:latin typeface="Aptos Mono" panose="020B0009020202020204" pitchFamily="49" charset="0"/>
              </a:rPr>
              <a:t> = "$</a:t>
            </a:r>
            <a:r>
              <a:rPr lang="en-US" sz="1600" dirty="0" err="1">
                <a:latin typeface="Aptos Mono" panose="020B0009020202020204" pitchFamily="49" charset="0"/>
              </a:rPr>
              <a:t>baseDir</a:t>
            </a:r>
            <a:r>
              <a:rPr lang="en-US" sz="1600" dirty="0">
                <a:latin typeface="Aptos Mono" panose="020B0009020202020204" pitchFamily="49" charset="0"/>
              </a:rPr>
              <a:t>/data/</a:t>
            </a:r>
            <a:r>
              <a:rPr lang="en-US" sz="1600" dirty="0" err="1">
                <a:latin typeface="Aptos Mono" panose="020B0009020202020204" pitchFamily="49" charset="0"/>
              </a:rPr>
              <a:t>sample.fa</a:t>
            </a:r>
            <a:r>
              <a:rPr lang="en-US" sz="1600" dirty="0">
                <a:latin typeface="Aptos Mono" panose="020B0009020202020204" pitchFamily="49" charset="0"/>
              </a:rPr>
              <a:t>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Aptos Mono" panose="020B0009020202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// Split a </a:t>
            </a:r>
            <a:r>
              <a:rPr lang="en-US" sz="1600" dirty="0" err="1">
                <a:latin typeface="Aptos Mono" panose="020B0009020202020204" pitchFamily="49" charset="0"/>
              </a:rPr>
              <a:t>fasta</a:t>
            </a:r>
            <a:r>
              <a:rPr lang="en-US" sz="1600" dirty="0">
                <a:latin typeface="Aptos Mono" panose="020B0009020202020204" pitchFamily="49" charset="0"/>
              </a:rPr>
              <a:t> file into multiple files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process </a:t>
            </a:r>
            <a:r>
              <a:rPr lang="en-US" sz="1600" dirty="0" err="1">
                <a:latin typeface="Aptos Mono" panose="020B0009020202020204" pitchFamily="49" charset="0"/>
              </a:rPr>
              <a:t>splitSequences</a:t>
            </a:r>
            <a:r>
              <a:rPr lang="en-US" sz="1600" dirty="0">
                <a:latin typeface="Aptos Mono" panose="020B000902020202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Aptos Mono" panose="020B0009020202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    input: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    path '</a:t>
            </a:r>
            <a:r>
              <a:rPr lang="en-US" sz="1600" dirty="0" err="1">
                <a:latin typeface="Aptos Mono" panose="020B0009020202020204" pitchFamily="49" charset="0"/>
              </a:rPr>
              <a:t>input.fa</a:t>
            </a:r>
            <a:r>
              <a:rPr lang="en-US" sz="1600" dirty="0">
                <a:latin typeface="Aptos Mono" panose="020B0009020202020204" pitchFamily="49" charset="0"/>
              </a:rPr>
              <a:t>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Aptos Mono" panose="020B0009020202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    output: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    path 'seq_*'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Aptos Mono" panose="020B0009020202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    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    awk '/^&gt;/{f="seq_"++d} {print &gt; f}' &lt; </a:t>
            </a:r>
            <a:r>
              <a:rPr lang="en-US" sz="1600" dirty="0" err="1">
                <a:latin typeface="Aptos Mono" panose="020B0009020202020204" pitchFamily="49" charset="0"/>
              </a:rPr>
              <a:t>input.fa</a:t>
            </a:r>
            <a:endParaRPr lang="en-US" sz="1600" dirty="0">
              <a:latin typeface="Aptos Mono" panose="020B0009020202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    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Aptos Mono" panose="020B00090202020202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A7AE2-B854-9F44-A15F-5728B8C34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9/17/2026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797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92C59-CFDD-6F0E-3BEE-90F10DC3E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0DC62-1789-C14F-280A-0144F3B27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Example Workflow Management Pipeline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B6A59-5FF3-6D5C-B484-87098AF94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853"/>
            <a:ext cx="10515600" cy="47091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// Reverse the sequences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process reverse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Aptos Mono" panose="020B0009020202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    input: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    path 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Aptos Mono" panose="020B0009020202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    output: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    </a:t>
            </a:r>
            <a:r>
              <a:rPr lang="en-US" sz="1600" dirty="0" err="1">
                <a:latin typeface="Aptos Mono" panose="020B0009020202020204" pitchFamily="49" charset="0"/>
              </a:rPr>
              <a:t>stdout</a:t>
            </a:r>
            <a:endParaRPr lang="en-US" sz="1600" dirty="0">
              <a:latin typeface="Aptos Mono" panose="020B0009020202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Aptos Mono" panose="020B0009020202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    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    cat $x | rev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    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Aptos Mono" panose="020B0009020202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// Define the workflow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workflow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    </a:t>
            </a:r>
            <a:r>
              <a:rPr lang="en-US" sz="1600" dirty="0" err="1">
                <a:latin typeface="Aptos Mono" panose="020B0009020202020204" pitchFamily="49" charset="0"/>
              </a:rPr>
              <a:t>splitSequences</a:t>
            </a:r>
            <a:r>
              <a:rPr lang="en-US" sz="1600" dirty="0">
                <a:latin typeface="Aptos Mono" panose="020B0009020202020204" pitchFamily="49" charset="0"/>
              </a:rPr>
              <a:t>(</a:t>
            </a:r>
            <a:r>
              <a:rPr lang="en-US" sz="1600" dirty="0" err="1">
                <a:latin typeface="Aptos Mono" panose="020B0009020202020204" pitchFamily="49" charset="0"/>
              </a:rPr>
              <a:t>params.in</a:t>
            </a:r>
            <a:r>
              <a:rPr lang="en-US" sz="1600" dirty="0">
                <a:latin typeface="Aptos Mono" panose="020B0009020202020204" pitchFamily="49" charset="0"/>
              </a:rPr>
              <a:t>)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      | reverse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      | view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Aptos Mono" panose="020B0009020202020204" pitchFamily="49" charset="0"/>
              </a:rPr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78F2B-1637-85CE-9F94-2C5E8D80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9/17/2026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840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EA0FF-F552-0A21-324C-973AFB770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of Workflow Managers in HPC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B6166-DAF2-D548-00F4-4FD60D0D8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HPC environments are typically job-based (through schedulers such as </a:t>
            </a:r>
            <a:r>
              <a:rPr lang="en-US" dirty="0" err="1"/>
              <a:t>Slurm</a:t>
            </a:r>
            <a:r>
              <a:rPr lang="en-US" dirty="0"/>
              <a:t> or PBS)</a:t>
            </a:r>
          </a:p>
          <a:p>
            <a:pPr lvl="1"/>
            <a:r>
              <a:rPr lang="en-US" dirty="0"/>
              <a:t>Jobs generally come with time limits, which can be challenging to manage</a:t>
            </a:r>
          </a:p>
          <a:p>
            <a:pPr lvl="2"/>
            <a:r>
              <a:rPr lang="en-US" dirty="0"/>
              <a:t>Frequently restarting workflow manager jobs, pipelines, etc. leads to inefficiency</a:t>
            </a:r>
          </a:p>
          <a:p>
            <a:r>
              <a:rPr lang="en-US" dirty="0"/>
              <a:t>Login nodes on HPC systems must not be used for any computation or long-running tasks</a:t>
            </a:r>
          </a:p>
          <a:p>
            <a:pPr lvl="1"/>
            <a:r>
              <a:rPr lang="en-US" dirty="0"/>
              <a:t>While generally lightweight, workflow managers do consume resources</a:t>
            </a:r>
          </a:p>
          <a:p>
            <a:pPr lvl="2"/>
            <a:r>
              <a:rPr lang="en-US" dirty="0"/>
              <a:t>Performance impact for others trying to access the HPC system</a:t>
            </a:r>
          </a:p>
          <a:p>
            <a:pPr lvl="1"/>
            <a:r>
              <a:rPr lang="en-US" dirty="0"/>
              <a:t>Workflow management software can run for weeks at a time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0E3EE-D41B-7332-1042-2A6419587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9/17/2026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022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A0205-A753-5DB9-7836-0B988792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Challenges Using </a:t>
            </a:r>
            <a:r>
              <a:rPr lang="en-US" i="1" dirty="0"/>
              <a:t>persistence1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E7473-B363-9FA7-32AF-2B05FAFC2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more powerful, robust, controlled-access server</a:t>
            </a:r>
          </a:p>
          <a:p>
            <a:pPr lvl="1"/>
            <a:r>
              <a:rPr lang="en-US" dirty="0"/>
              <a:t>Like a high-powered login node</a:t>
            </a:r>
          </a:p>
          <a:p>
            <a:pPr lvl="2"/>
            <a:r>
              <a:rPr lang="en-US" dirty="0"/>
              <a:t>More powerful than a standard login node, less powerful than a compute node</a:t>
            </a:r>
          </a:p>
          <a:p>
            <a:pPr lvl="1"/>
            <a:r>
              <a:rPr lang="en-US" dirty="0"/>
              <a:t>Controlled-access prevents contention with users trying to access standard resources</a:t>
            </a:r>
          </a:p>
          <a:p>
            <a:r>
              <a:rPr lang="en-US" dirty="0"/>
              <a:t>No job submission required for workflow management applications</a:t>
            </a:r>
          </a:p>
          <a:p>
            <a:r>
              <a:rPr lang="en-US" dirty="0"/>
              <a:t>Long-running processes allowed (as long as they don’t perform computation/analyses themselves)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84CD5-D031-C701-E92E-31ACF09B4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9/17/2026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611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CD11E-4C74-F501-BC91-26BADD885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Access </a:t>
            </a:r>
            <a:r>
              <a:rPr lang="en-US" i="1" dirty="0"/>
              <a:t>persistence1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23C30-FC5E-B496-653A-016B459E4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Submit a </a:t>
            </a:r>
            <a:r>
              <a:rPr lang="en-US" dirty="0">
                <a:hlinkClick r:id="rId2"/>
              </a:rPr>
              <a:t>Support Request Form</a:t>
            </a:r>
            <a:r>
              <a:rPr lang="en-US" dirty="0"/>
              <a:t> or email </a:t>
            </a:r>
            <a:r>
              <a:rPr lang="en-US" dirty="0">
                <a:hlinkClick r:id="rId3"/>
              </a:rPr>
              <a:t>rc-help@colorado.edu</a:t>
            </a:r>
            <a:r>
              <a:rPr lang="en-US" dirty="0"/>
              <a:t> requesting access</a:t>
            </a:r>
          </a:p>
          <a:p>
            <a:pPr lvl="1"/>
            <a:r>
              <a:rPr lang="en-US" dirty="0"/>
              <a:t>Describe your intended workflow and software usage</a:t>
            </a:r>
          </a:p>
          <a:p>
            <a:r>
              <a:rPr lang="en-US" dirty="0"/>
              <a:t>Once granted, login to a terminal on the system as normal, then type </a:t>
            </a:r>
            <a:r>
              <a:rPr lang="en-US" dirty="0">
                <a:latin typeface="Aptos Mono" panose="020B0009020202020204" pitchFamily="49" charset="0"/>
              </a:rPr>
              <a:t>ssh persistence1</a:t>
            </a:r>
          </a:p>
          <a:p>
            <a:pPr lvl="1"/>
            <a:r>
              <a:rPr lang="en-US" dirty="0"/>
              <a:t>You will immediately be connected to the </a:t>
            </a:r>
            <a:r>
              <a:rPr lang="en-US" i="1" dirty="0"/>
              <a:t>persistence1</a:t>
            </a:r>
            <a:r>
              <a:rPr lang="en-US" dirty="0"/>
              <a:t> server</a:t>
            </a:r>
          </a:p>
          <a:p>
            <a:r>
              <a:rPr lang="en-US" dirty="0"/>
              <a:t>Set up your workflow manager and run!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More details: </a:t>
            </a:r>
            <a:r>
              <a:rPr lang="en-US" dirty="0">
                <a:hlinkClick r:id="rId4"/>
              </a:rPr>
              <a:t>https://curc.readthedocs.io/en/latest/running-jobs/persistence1.html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78C30-9230-4495-AA8E-1AC448A54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9/17/2026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327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90AC5-2AB1-3816-8ABD-C6850F82F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</a:t>
            </a:r>
            <a:r>
              <a:rPr lang="en-US" i="1" dirty="0"/>
              <a:t>persistence1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3CE6D-DC0B-B0F2-65FD-C31978AE6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computational tasks of your workflow </a:t>
            </a:r>
            <a:r>
              <a:rPr lang="en-US" i="1" dirty="0"/>
              <a:t>must not</a:t>
            </a:r>
            <a:r>
              <a:rPr lang="en-US" dirty="0"/>
              <a:t> be run on </a:t>
            </a:r>
            <a:r>
              <a:rPr lang="en-US" i="1" dirty="0"/>
              <a:t>persistence1</a:t>
            </a:r>
            <a:endParaRPr lang="en-US" dirty="0"/>
          </a:p>
          <a:p>
            <a:pPr lvl="1"/>
            <a:r>
              <a:rPr lang="en-US" i="1" dirty="0"/>
              <a:t>persistence1</a:t>
            </a:r>
            <a:r>
              <a:rPr lang="en-US" dirty="0"/>
              <a:t> may be used to run the workflow manager only</a:t>
            </a:r>
          </a:p>
          <a:p>
            <a:pPr lvl="2"/>
            <a:r>
              <a:rPr lang="en-US" dirty="0"/>
              <a:t>Only software relevant to workflow management and job submission is available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SSH connections to </a:t>
            </a:r>
            <a:r>
              <a:rPr lang="en-US" i="1" dirty="0"/>
              <a:t>persistence1 </a:t>
            </a:r>
            <a:r>
              <a:rPr lang="en-US" dirty="0"/>
              <a:t>can still “die” from inactivity or connection issues, which will likely terminate your processes</a:t>
            </a:r>
          </a:p>
          <a:p>
            <a:pPr lvl="1"/>
            <a:r>
              <a:rPr lang="en-US" dirty="0"/>
              <a:t>Consider software such as </a:t>
            </a:r>
            <a:r>
              <a:rPr lang="en-US" i="1" dirty="0"/>
              <a:t>screen</a:t>
            </a:r>
            <a:r>
              <a:rPr lang="en-US" dirty="0"/>
              <a:t> or </a:t>
            </a:r>
            <a:r>
              <a:rPr lang="en-US" i="1" dirty="0"/>
              <a:t>tmux</a:t>
            </a:r>
            <a:r>
              <a:rPr lang="en-US" dirty="0"/>
              <a:t> to keep sessions alive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3BBA5-D749-B87A-675A-2C8339770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9/17/2026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85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24128-956A-2740-D1CD-5C61E5476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Please take our survey!</a:t>
            </a:r>
          </a:p>
        </p:txBody>
      </p:sp>
      <p:pic>
        <p:nvPicPr>
          <p:cNvPr id="6" name="Content Placeholder 5" descr="A QR code linking to https://s.zoom.us/m/bPlPdNq5M">
            <a:extLst>
              <a:ext uri="{FF2B5EF4-FFF2-40B4-BE49-F238E27FC236}">
                <a16:creationId xmlns:a16="http://schemas.microsoft.com/office/drawing/2014/main" id="{54C6D01F-C325-400A-0738-C8C9A11DF2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9242" y="1690688"/>
            <a:ext cx="4133516" cy="41335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3B86CE-7FC8-A668-3873-361E095B3727}"/>
              </a:ext>
            </a:extLst>
          </p:cNvPr>
          <p:cNvSpPr txBox="1"/>
          <p:nvPr/>
        </p:nvSpPr>
        <p:spPr>
          <a:xfrm>
            <a:off x="4345405" y="5728027"/>
            <a:ext cx="350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s.zoom.us</a:t>
            </a:r>
            <a:r>
              <a:rPr lang="en-US" dirty="0">
                <a:hlinkClick r:id="rId3"/>
              </a:rPr>
              <a:t>/m/bPlPdNq5M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E6D43-BE6F-E88B-1C6C-A2A843D32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9/17/2026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45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title" idx="4294967295"/>
          </p:nvPr>
        </p:nvSpPr>
        <p:spPr>
          <a:xfrm>
            <a:off x="4496206" y="4730057"/>
            <a:ext cx="3359418" cy="6770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91425" rIns="91425" bIns="91425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Any Questions?</a:t>
            </a:r>
          </a:p>
        </p:txBody>
      </p:sp>
      <p:pic>
        <p:nvPicPr>
          <p:cNvPr id="5" name="Graphic 4" descr="A clipart image of two silhouettes with a speach bubble containing a question mark above">
            <a:extLst>
              <a:ext uri="{FF2B5EF4-FFF2-40B4-BE49-F238E27FC236}">
                <a16:creationId xmlns:a16="http://schemas.microsoft.com/office/drawing/2014/main" id="{81316737-E39C-896D-10BE-E6C435DF931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39702" y="920745"/>
            <a:ext cx="4114800" cy="4114800"/>
          </a:xfrm>
          <a:prstGeom prst="rect">
            <a:avLst/>
          </a:prstGeom>
        </p:spPr>
      </p:pic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00DB599-B224-4128-8866-DED752404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370515"/>
            <a:ext cx="2743200" cy="365125"/>
          </a:xfrm>
        </p:spPr>
        <p:txBody>
          <a:bodyPr/>
          <a:lstStyle/>
          <a:p>
            <a:pPr algn="ctr"/>
            <a:r>
              <a:rPr lang="en-US" dirty="0"/>
              <a:t>9/17/2026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B Content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2c16b9d-8c83-445e-a4f4-1fe3d2f43f13" xsi:nil="true"/>
    <lcf76f155ced4ddcb4097134ff3c332f xmlns="7e49f7d3-8802-46ca-9604-495ce27f67f4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7320DB280744439FF1CC777D09ECA4" ma:contentTypeVersion="15" ma:contentTypeDescription="Create a new document." ma:contentTypeScope="" ma:versionID="e50b92032c956cc777cf00ac7d475189">
  <xsd:schema xmlns:xsd="http://www.w3.org/2001/XMLSchema" xmlns:xs="http://www.w3.org/2001/XMLSchema" xmlns:p="http://schemas.microsoft.com/office/2006/metadata/properties" xmlns:ns2="7e49f7d3-8802-46ca-9604-495ce27f67f4" xmlns:ns3="a1519f9a-9d6a-41c1-afc9-552e4069f82f" xmlns:ns4="92c16b9d-8c83-445e-a4f4-1fe3d2f43f13" targetNamespace="http://schemas.microsoft.com/office/2006/metadata/properties" ma:root="true" ma:fieldsID="fcd7cab68a23f1df7b42ced4f3edf141" ns2:_="" ns3:_="" ns4:_="">
    <xsd:import namespace="7e49f7d3-8802-46ca-9604-495ce27f67f4"/>
    <xsd:import namespace="a1519f9a-9d6a-41c1-afc9-552e4069f82f"/>
    <xsd:import namespace="92c16b9d-8c83-445e-a4f4-1fe3d2f43f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49f7d3-8802-46ca-9604-495ce27f67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2802cc5-2881-4dd7-9d75-38905e9cf7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19f9a-9d6a-41c1-afc9-552e4069f82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c16b9d-8c83-445e-a4f4-1fe3d2f43f1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5373c19-887a-4e93-8582-23ebe3fe2f18}" ma:internalName="TaxCatchAll" ma:showField="CatchAllData" ma:web="a1519f9a-9d6a-41c1-afc9-552e4069f82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B02FF4-25A1-49FE-9DF7-DD19F525B7FA}">
  <ds:schemaRefs>
    <ds:schemaRef ds:uri="7e49f7d3-8802-46ca-9604-495ce27f67f4"/>
    <ds:schemaRef ds:uri="http://purl.org/dc/dcmitype/"/>
    <ds:schemaRef ds:uri="a1519f9a-9d6a-41c1-afc9-552e4069f82f"/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92c16b9d-8c83-445e-a4f4-1fe3d2f43f13"/>
  </ds:schemaRefs>
</ds:datastoreItem>
</file>

<file path=customXml/itemProps2.xml><?xml version="1.0" encoding="utf-8"?>
<ds:datastoreItem xmlns:ds="http://schemas.openxmlformats.org/officeDocument/2006/customXml" ds:itemID="{6BBC22CE-40EC-4545-8FE9-90326628051D}">
  <ds:schemaRefs>
    <ds:schemaRef ds:uri="7e49f7d3-8802-46ca-9604-495ce27f67f4"/>
    <ds:schemaRef ds:uri="92c16b9d-8c83-445e-a4f4-1fe3d2f43f13"/>
    <ds:schemaRef ds:uri="a1519f9a-9d6a-41c1-afc9-552e4069f8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6B4C708-AA43-4CE7-BE2D-F9D9A02F494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33202</TotalTime>
  <Words>751</Words>
  <Application>Microsoft Macintosh PowerPoint</Application>
  <PresentationFormat>Widescreen</PresentationFormat>
  <Paragraphs>129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Aptos Mono</vt:lpstr>
      <vt:lpstr>Arial</vt:lpstr>
      <vt:lpstr>Calibri</vt:lpstr>
      <vt:lpstr>Helvetica Neue</vt:lpstr>
      <vt:lpstr>CUB Content </vt:lpstr>
      <vt:lpstr>Custom Design</vt:lpstr>
      <vt:lpstr>Workflow Management with persistence1</vt:lpstr>
      <vt:lpstr>Workflow Management with persistence1: Resources</vt:lpstr>
      <vt:lpstr>Meet the User Support Team</vt:lpstr>
      <vt:lpstr>What is a workflow?</vt:lpstr>
      <vt:lpstr>What are workflow managers?</vt:lpstr>
      <vt:lpstr>Use Cases and Benefits</vt:lpstr>
      <vt:lpstr>When Not to Use Workflow Managers</vt:lpstr>
      <vt:lpstr>Examples of Workflow Management Software</vt:lpstr>
      <vt:lpstr>Example Workflow Management Pipeline</vt:lpstr>
      <vt:lpstr>Example Workflow Management Pipeline (continued)</vt:lpstr>
      <vt:lpstr>Challenges of Workflow Managers in HPC Environments</vt:lpstr>
      <vt:lpstr>Addressing Challenges Using persistence1</vt:lpstr>
      <vt:lpstr>How to Access persistence1</vt:lpstr>
      <vt:lpstr>Limitations of persistence1</vt:lpstr>
      <vt:lpstr>Please take our survey!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CURC Alpine Allocations</dc:title>
  <dc:creator>Layla Freeborn</dc:creator>
  <cp:lastModifiedBy>John Reiland</cp:lastModifiedBy>
  <cp:revision>126</cp:revision>
  <cp:lastPrinted>2026-09-09T16:45:46Z</cp:lastPrinted>
  <dcterms:created xsi:type="dcterms:W3CDTF">2023-01-13T17:07:22Z</dcterms:created>
  <dcterms:modified xsi:type="dcterms:W3CDTF">2026-09-17T21:37:12Z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0x010100DC7320DB280744439FF1CC777D09ECA4</vt:lpwstr>
  </property>
</Properties>
</file>